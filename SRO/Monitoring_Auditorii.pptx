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731520"/>
            <a:ext cx="1280160" cy="1280160"/>
          </a:xfrm>
          <a:prstGeom prst="ellipse">
            <a:avLst/>
          </a:prstGeom>
          <a:solidFill>
            <a:srgbClr val="0F2744"/>
          </a:solidFill>
          <a:ln w="25400">
            <a:solidFill>
              <a:srgbClr val="00D4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1051560"/>
            <a:ext cx="640080" cy="64008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0" y="109728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8366760" y="1737360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2194560"/>
            <a:ext cx="228600" cy="2286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716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показателей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учебной аудитории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IoT-модели для контроля параметров окружающей среды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2286000" cy="36576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Выполнил: </a:t>
            </a:r>
            <a:pPr indent="0" marL="0">
              <a:buNone/>
            </a:pPr>
            <a:r>
              <a:rPr lang="en-US" sz="1400" b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Камашев Дильяр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Группа: </a:t>
            </a:r>
            <a:pPr indent="0" marL="0">
              <a:buNone/>
            </a:pPr>
            <a:r>
              <a:rPr lang="en-US" sz="1400" b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IS-25-21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F274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976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0" y="429768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F274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42976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Датчики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0" y="429768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F274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42976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429768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F274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42976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аудитория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 · Тема №18 · Мониторинг показателей учебной аудитории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Актуальность, цель и задачи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1224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777240"/>
            <a:ext cx="2743200" cy="54864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960120"/>
            <a:ext cx="457200" cy="457200"/>
          </a:xfrm>
          <a:prstGeom prst="ellipse">
            <a:avLst/>
          </a:prstGeom>
          <a:solidFill>
            <a:srgbClr val="0F2744"/>
          </a:solidFill>
          <a:ln w="19050">
            <a:solidFill>
              <a:srgbClr val="00D4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°C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960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Температура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Влияет на комфорт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концентрацию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77724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1224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777240"/>
            <a:ext cx="2743200" cy="54864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3280" y="960120"/>
            <a:ext cx="457200" cy="457200"/>
          </a:xfrm>
          <a:prstGeom prst="ellipse">
            <a:avLst/>
          </a:prstGeom>
          <a:solidFill>
            <a:srgbClr val="0F2744"/>
          </a:solidFill>
          <a:ln w="19050">
            <a:solidFill>
              <a:srgbClr val="00D4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960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Влажность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Определяет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микроклимат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77724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1224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777240"/>
            <a:ext cx="2743200" cy="54864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21" name="Shape 19"/>
          <p:cNvSpPr/>
          <p:nvPr/>
        </p:nvSpPr>
        <p:spPr>
          <a:xfrm>
            <a:off x="6263640" y="960120"/>
            <a:ext cx="457200" cy="457200"/>
          </a:xfrm>
          <a:prstGeom prst="ellipse">
            <a:avLst/>
          </a:prstGeom>
          <a:solidFill>
            <a:srgbClr val="0F2744"/>
          </a:solidFill>
          <a:ln w="19050">
            <a:solidFill>
              <a:srgbClr val="00D4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960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Освещённость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Влияет на зрение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работоспособность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219456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0F2744"/>
          </a:solidFill>
          <a:ln w="19050">
            <a:solidFill>
              <a:srgbClr val="00D4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 </a:t>
            </a:r>
            <a:pPr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программную модель для наблюдения за показателями учебной аудитории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576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11480" y="3383280"/>
            <a:ext cx="256032" cy="25603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33832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Организовать ввод или имитацию показаний датчиков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1480" y="3703320"/>
            <a:ext cx="256032" cy="25603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3703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Отображать текущие значения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11480" y="4023360"/>
            <a:ext cx="256032" cy="25603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023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Выявлять отклонения от заданных диапазонов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11480" y="4343400"/>
            <a:ext cx="256032" cy="25603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" y="43434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Проверять работу системы с помощью тестовых сценариев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 · Тема №18 · Мониторинг показателей учебной аудитории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предметной области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2243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713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Преподаватель  ·  Лаборант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64008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12243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713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Единицы измерения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Температура — °C   ·   Влажность — %   ·   Освещённость — лк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работы системы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0040" y="196596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1224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084832"/>
            <a:ext cx="457200" cy="45720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3192" y="2606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Получение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или генерация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показаний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92808" y="2468880"/>
            <a:ext cx="182880" cy="182880"/>
          </a:xfrm>
          <a:prstGeom prst="rightArrow">
            <a:avLst/>
          </a:prstGeom>
          <a:solidFill>
            <a:srgbClr val="0E7490"/>
          </a:solidFill>
          <a:ln/>
        </p:spPr>
      </p:sp>
      <p:sp>
        <p:nvSpPr>
          <p:cNvPr id="19" name="Shape 17"/>
          <p:cNvSpPr/>
          <p:nvPr/>
        </p:nvSpPr>
        <p:spPr>
          <a:xfrm>
            <a:off x="2057400" y="196596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1224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2084832"/>
            <a:ext cx="457200" cy="45720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130552" y="2606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значений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30168" y="2468880"/>
            <a:ext cx="182880" cy="182880"/>
          </a:xfrm>
          <a:prstGeom prst="rightArrow">
            <a:avLst/>
          </a:prstGeom>
          <a:solidFill>
            <a:srgbClr val="0E7490"/>
          </a:solidFill>
          <a:ln/>
        </p:spPr>
      </p:sp>
      <p:sp>
        <p:nvSpPr>
          <p:cNvPr id="24" name="Shape 22"/>
          <p:cNvSpPr/>
          <p:nvPr/>
        </p:nvSpPr>
        <p:spPr>
          <a:xfrm>
            <a:off x="3794760" y="196596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1224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2084832"/>
            <a:ext cx="457200" cy="45720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6" name="Text 24"/>
          <p:cNvSpPr/>
          <p:nvPr/>
        </p:nvSpPr>
        <p:spPr>
          <a:xfrm>
            <a:off x="43434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67912" y="2606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Отображение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показателей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67528" y="2468880"/>
            <a:ext cx="182880" cy="182880"/>
          </a:xfrm>
          <a:prstGeom prst="rightArrow">
            <a:avLst/>
          </a:prstGeom>
          <a:solidFill>
            <a:srgbClr val="0E7490"/>
          </a:solidFill>
          <a:ln/>
        </p:spPr>
      </p:sp>
      <p:sp>
        <p:nvSpPr>
          <p:cNvPr id="29" name="Shape 27"/>
          <p:cNvSpPr/>
          <p:nvPr/>
        </p:nvSpPr>
        <p:spPr>
          <a:xfrm>
            <a:off x="5532120" y="196596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1224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2084832"/>
            <a:ext cx="457200" cy="45720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05272" y="2606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Предупреждение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отклонениях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04888" y="2468880"/>
            <a:ext cx="182880" cy="182880"/>
          </a:xfrm>
          <a:prstGeom prst="rightArrow">
            <a:avLst/>
          </a:prstGeom>
          <a:solidFill>
            <a:srgbClr val="0E7490"/>
          </a:solidFill>
          <a:ln/>
        </p:spPr>
      </p:sp>
      <p:sp>
        <p:nvSpPr>
          <p:cNvPr id="34" name="Shape 32"/>
          <p:cNvSpPr/>
          <p:nvPr/>
        </p:nvSpPr>
        <p:spPr>
          <a:xfrm>
            <a:off x="7269480" y="196596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1224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18120" y="2084832"/>
            <a:ext cx="457200" cy="45720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6" name="Text 34"/>
          <p:cNvSpPr/>
          <p:nvPr/>
        </p:nvSpPr>
        <p:spPr>
          <a:xfrm>
            <a:off x="781812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42632" y="2606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аудитории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38328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0F27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Особенность прототипа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8640" y="3840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этапе прототипа реальные датчики не обязательны. Показания могут имитироваться программно — это позволяет отладить логику мониторинга, проверки диапазонов и отображения без физического оборудования.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 · Тема №18 · Мониторинг показателей учебной аудитории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возможности и модель данных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Функции системы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12243A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078992"/>
            <a:ext cx="237744" cy="23774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078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005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Отображение температуры, влажности и освещённости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444752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12243A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1517904"/>
            <a:ext cx="237744" cy="23774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517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14447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Имитация показаний датчиков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1883664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12243A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1956816"/>
            <a:ext cx="237744" cy="23774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9568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18836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Ручной ввод значений с проверкой границ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322576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12243A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2395728"/>
            <a:ext cx="237744" cy="23774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395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23225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Сигнализация при отклонениях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2761488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12243A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2834640"/>
            <a:ext cx="237744" cy="23774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834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27614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 истории измерений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640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данных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1005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0" y="1005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/ пример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1371600"/>
            <a:ext cx="3931920" cy="3657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измерения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6656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14:25:10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1737360"/>
            <a:ext cx="3931920" cy="365760"/>
          </a:xfrm>
          <a:prstGeom prst="rect">
            <a:avLst/>
          </a:prstGeom>
          <a:solidFill>
            <a:srgbClr val="12243A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Температура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6656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23,5 °C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46320" y="2103120"/>
            <a:ext cx="3931920" cy="3657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Влажность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6656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2468880"/>
            <a:ext cx="3931920" cy="365760"/>
          </a:xfrm>
          <a:prstGeom prst="rect">
            <a:avLst/>
          </a:prstGeom>
          <a:solidFill>
            <a:srgbClr val="12243A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Освещённость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6656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лк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46320" y="29718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0F274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834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тестовой записи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8348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14:25:10  |  23,5 °C  |  45 %  |  450 лк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98348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· Температура · Влажность · Освещённость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 · Тема №18 · Мониторинг показателей учебной аудитории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 и заключение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Тестовые сценарии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Входные данные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914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результат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384048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37160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2618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°C · 45 % · 450 лк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2618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Нормальное состояние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645920"/>
            <a:ext cx="8412480" cy="384048"/>
          </a:xfrm>
          <a:prstGeom prst="rect">
            <a:avLst/>
          </a:prstGeom>
          <a:solidFill>
            <a:srgbClr val="12243A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175564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16459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Температура 32 °C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645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Предупреждение: высокая температура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029968"/>
            <a:ext cx="8412480" cy="384048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139696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029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Влажность 20 %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0299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Предупреждение: низкая влажность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414016"/>
            <a:ext cx="8412480" cy="384048"/>
          </a:xfrm>
          <a:prstGeom prst="rect">
            <a:avLst/>
          </a:prstGeom>
          <a:solidFill>
            <a:srgbClr val="12243A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252374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24140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Освещённость 100 лк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24140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Предупреждение: недостаточное освещение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2926080"/>
            <a:ext cx="8412480" cy="1554480"/>
          </a:xfrm>
          <a:prstGeom prst="roundRect">
            <a:avLst>
              <a:gd name="adj" fmla="val 5882"/>
            </a:avLst>
          </a:prstGeom>
          <a:solidFill>
            <a:srgbClr val="0F2744"/>
          </a:solidFill>
          <a:ln w="19050">
            <a:solidFill>
              <a:srgbClr val="00D4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3429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позволит демонстрировать принцип работы IoT-мониторинга, контролировать показатели учебной аудитории и обнаруживать отклонения. В дальнейшем можно подключить реальные датчики и базу данных.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Мониторинг показателей учебной аудитории</dc:title>
  <dc:subject>СРО Тема №18</dc:subject>
  <dc:creator>Камашев Дильяр</dc:creator>
  <cp:lastModifiedBy>Камашев Дильяр</cp:lastModifiedBy>
  <cp:revision>1</cp:revision>
  <dcterms:created xsi:type="dcterms:W3CDTF">2026-10-14T16:28:59Z</dcterms:created>
  <dcterms:modified xsi:type="dcterms:W3CDTF">2026-10-14T16:28:59Z</dcterms:modified>
</cp:coreProperties>
</file>